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88952" cy="635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技能孵化製作報告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AACCDD"/>
                </a:solidFill>
              </a:rPr>
              <a:t>卡米爾 AI 專案經理面試實作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88AACC"/>
                </a:solidFill>
              </a:rPr>
              <a:t>柏融 Ho Po-Jung　｜　2026.06.08</a:t>
            </a:r>
          </a:p>
        </p:txBody>
      </p:sp>
      <p:sp>
        <p:nvSpPr>
          <p:cNvPr id="7" name="Rectangle 6"/>
          <p:cNvSpPr/>
          <p:nvPr/>
        </p:nvSpPr>
        <p:spPr>
          <a:xfrm>
            <a:off x="493776" y="4572000"/>
            <a:ext cx="2560320" cy="1005840"/>
          </a:xfrm>
          <a:prstGeom prst="rect">
            <a:avLst/>
          </a:prstGeom>
          <a:solidFill>
            <a:srgbClr val="224466"/>
          </a:solidFill>
          <a:ln w="12700">
            <a:solidFill>
              <a:srgbClr val="008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4617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8787"/>
                </a:solidFill>
              </a:rPr>
              <a:t>📄 PDF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50749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CDDEE"/>
                </a:solidFill>
              </a:rPr>
              <a:t>偵查卷宗 9頁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4136" y="4572000"/>
            <a:ext cx="2560320" cy="1005840"/>
          </a:xfrm>
          <a:prstGeom prst="rect">
            <a:avLst/>
          </a:prstGeom>
          <a:solidFill>
            <a:srgbClr val="224466"/>
          </a:solidFill>
          <a:ln w="12700">
            <a:solidFill>
              <a:srgbClr val="008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65576" y="4617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8787"/>
                </a:solidFill>
              </a:rPr>
              <a:t>🔊 WAV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65576" y="50749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CDDEE"/>
                </a:solidFill>
              </a:rPr>
              <a:t>廣播60分鐘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54496" y="4572000"/>
            <a:ext cx="2560320" cy="1005840"/>
          </a:xfrm>
          <a:prstGeom prst="rect">
            <a:avLst/>
          </a:prstGeom>
          <a:solidFill>
            <a:srgbClr val="224466"/>
          </a:solidFill>
          <a:ln w="12700">
            <a:solidFill>
              <a:srgbClr val="008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4617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8787"/>
                </a:solidFill>
              </a:rPr>
              <a:t>📊 XLS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50749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CDDEE"/>
                </a:solidFill>
              </a:rPr>
              <a:t>人口統計25縣市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34856" y="4572000"/>
            <a:ext cx="2560320" cy="1005840"/>
          </a:xfrm>
          <a:prstGeom prst="rect">
            <a:avLst/>
          </a:prstGeom>
          <a:solidFill>
            <a:srgbClr val="224466"/>
          </a:solidFill>
          <a:ln w="12700">
            <a:solidFill>
              <a:srgbClr val="008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26296" y="4617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8787"/>
                </a:solidFill>
              </a:rPr>
              <a:t>📦 ZIP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26296" y="50749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CDDEE"/>
                </a:solidFill>
              </a:rPr>
              <a:t>100份公文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08787"/>
                </a:solidFill>
              </a:rPr>
              <a:t>Harness：Hermes Agent  ×  Gemma 4 31B（NCHC API）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技能包架構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ACCDD"/>
                </a:solidFill>
              </a:rPr>
              <a:t>什麼是「技能包」？如何讓 AI 讀懂原始資料？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417320"/>
            <a:ext cx="12188952" cy="50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600200"/>
            <a:ext cx="11430000" cy="68580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2E4A"/>
                </a:solidFill>
              </a:rPr>
              <a:t>技能包 = 把原始資料轉成 AI 看得懂的格式，讓 Gemma 在問答時能查找、引用、精確回答。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" y="2468880"/>
            <a:ext cx="2011680" cy="9144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" y="251460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原始資料
PDF/WAV/XLS/ZIP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8044" y="274320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A2E4A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48356" y="2468880"/>
            <a:ext cx="2011680" cy="9144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94076" y="251460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前處理腳本
OCR / Whisper
/ xlrd / zipfile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8324" y="274320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A2E4A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88636" y="2468880"/>
            <a:ext cx="2011680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34356" y="251460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references/
Markdown 純文字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274320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A2E4A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28916" y="2468880"/>
            <a:ext cx="2011680" cy="914400"/>
          </a:xfrm>
          <a:prstGeom prst="rect">
            <a:avLst/>
          </a:prstGeom>
          <a:solidFill>
            <a:srgbClr val="6A1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74636" y="251460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NCHC Gemma
4 31B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58884" y="274320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A2E4A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69196" y="2468880"/>
            <a:ext cx="2011680" cy="914400"/>
          </a:xfrm>
          <a:prstGeom prst="rect">
            <a:avLst/>
          </a:prstGeom>
          <a:solidFill>
            <a:srgbClr val="E8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14916" y="251460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 正確答案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566160"/>
            <a:ext cx="11430000" cy="26517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657600"/>
            <a:ext cx="111556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FF88"/>
                </a:solidFill>
              </a:rPr>
              <a:t>skills/cameo-interview/
  ├── SKILL.md              ← 技能說明書（規格＋呼叫方式）
  ├── references/
  │   ├── pdf/              ← OCR 後卷宗全文
  │   ├── wav/              ← Whisper 逐字稿（時間戳記）
  │   ├── xls/              ← 縣市人口結構化表格
  │   └── zip/              ← 100 份公文全文＋索引
  └── qa/
      └── all_qa.json       ← 20 題自驗 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前處理：4 種資料，4 種方法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ACCDD"/>
                </a:solidFill>
              </a:rPr>
              <a:t>每種格式都有獨特挑戰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417320"/>
            <a:ext cx="12188952" cy="50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554480"/>
            <a:ext cx="5394960" cy="21945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554480"/>
            <a:ext cx="5394960" cy="384048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591056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📄 PDF｜偵查卷宗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975104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挑戰：每頁都是掃描圖片，直接讀文字得到 0 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414016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方法：PyMuPDF 渲染 300 DPI → Tesseract OCR（繁中＋英）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2852928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結果：9 頁全辨識，含案號、被告、犯罪事實、筆錄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291840"/>
            <a:ext cx="5394960" cy="4114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3192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A1A"/>
                </a:solidFill>
              </a:rPr>
              <a:t>🔑 key: 圖片 PDF 一定要 OCR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554480"/>
            <a:ext cx="5394960" cy="21945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0" y="1554480"/>
            <a:ext cx="5394960" cy="38404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591056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🔊 WAV｜廣播音頻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1975104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挑戰：IMA ADPCM 格式、台語混雜國語、60 分鐘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2414016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方法：soundfile 讀取 → Whisper medium 轉錄（本地 GPU）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852928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結果：1,551 段逐字稿，含分鐘:秒時間戳記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291840"/>
            <a:ext cx="5394960" cy="4114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3192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A1A"/>
                </a:solidFill>
              </a:rPr>
              <a:t>🔑 key: 雲端封鎖 HuggingFace，改本地跑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931920"/>
            <a:ext cx="5394960" cy="21945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3931920"/>
            <a:ext cx="5394960" cy="3840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3968496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📊 XLS｜人口統計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" y="4352544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挑戰：12 工作表、合併儲存格、pandas 讀出全是 Unnamed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" y="4791456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方法：改用 xlrd 逐格讀取，手動重建縣市×性別×年齡結構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5230368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結果：25 縣市，完整年齡組別，加入 65 歲以上老年估算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5669280"/>
            <a:ext cx="5394960" cy="4114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569671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A1A"/>
                </a:solidFill>
              </a:rPr>
              <a:t>🔑 key: 合併儲存格要繞過 pandas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3931920"/>
            <a:ext cx="5394960" cy="21945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0" y="3931920"/>
            <a:ext cx="5394960" cy="384048"/>
          </a:xfrm>
          <a:prstGeom prst="rect">
            <a:avLst/>
          </a:prstGeom>
          <a:solidFill>
            <a:srgbClr val="6A1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3968496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📦 ZIP｜公文集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0528" y="4352544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挑戰：100 份 PDF 公文，檔名中文編碼問題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8" y="4791456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方法：zipfile 解壓 → PyMuPDF 萃取 → 逐份 Markdown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0528" y="5230368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結果：201 個輸出檔（含索引），全文可搜尋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5669280"/>
            <a:ext cx="5394960" cy="4114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569671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A1A"/>
                </a:solidFill>
              </a:rPr>
              <a:t>🔑 key: 編碼問題不影響文件內容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自驗 20 題：成功、地雷與部署測試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ACCDD"/>
                </a:solidFill>
              </a:rPr>
              <a:t>前處理 + Railway 部署 + 向量搜尋調優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417320"/>
            <a:ext cx="12188952" cy="50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AE60"/>
                </a:solidFill>
              </a:rPr>
              <a:t>✅ 成功範例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938528"/>
          <a:ext cx="53035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7840"/>
                <a:gridCol w="1767840"/>
                <a:gridCol w="1767840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來源</a:t>
                      </a:r>
                    </a:p>
                  </a:txBody>
                  <a:tcPr>
                    <a:solidFill>
                      <a:srgbClr val="27AE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問題</a:t>
                      </a:r>
                    </a:p>
                  </a:txBody>
                  <a:tcPr>
                    <a:solidFill>
                      <a:srgbClr val="27AE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答案節錄</a:t>
                      </a:r>
                    </a:p>
                  </a:txBody>
                  <a:tcPr>
                    <a:solidFill>
                      <a:srgbClr val="27AE6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PDF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被告帳戶如何遭利用？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ATM 分4筆提領12萬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XLS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新北市總人口？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4,046,564 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ZIP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公文001主旨？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核定補助案計 33 件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WAV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余勝福參選哪裡？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大寮-林門市議員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035040" y="160020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6A1A"/>
                </a:solidFill>
              </a:rPr>
              <a:t>⚠️ 前處理地雷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35040" y="1938528"/>
          <a:ext cx="57607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地雷</a:t>
                      </a:r>
                    </a:p>
                  </a:txBody>
                  <a:tcPr>
                    <a:solidFill>
                      <a:srgbClr val="E86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原因</a:t>
                      </a:r>
                    </a:p>
                  </a:txBody>
                  <a:tcPr>
                    <a:solidFill>
                      <a:srgbClr val="E86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解法</a:t>
                      </a:r>
                    </a:p>
                  </a:txBody>
                  <a:tcPr>
                    <a:solidFill>
                      <a:srgbClr val="E86A1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PDF 無文字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掃描圖片格式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Tesseract OCR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XLS 欄名亂碼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合併儲存格→Unnamed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xlrd 逐格讀取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WAV 解碼失敗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IMA ADPCM 格式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換 soundfile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模型下載被擋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雲端封鎖 HuggingFace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本地執行 Whisper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7947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A1A8A"/>
                </a:solidFill>
              </a:rPr>
              <a:t>🚀 部署測試（Railway）發現的問題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4133087"/>
          <a:ext cx="1143000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346165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問題</a:t>
                      </a:r>
                    </a:p>
                  </a:txBody>
                  <a:tcPr>
                    <a:solidFill>
                      <a:srgbClr val="6A1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根本原因</a:t>
                      </a:r>
                    </a:p>
                  </a:txBody>
                  <a:tcPr>
                    <a:solidFill>
                      <a:srgbClr val="6A1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解法</a:t>
                      </a:r>
                    </a:p>
                  </a:txBody>
                  <a:tcPr>
                    <a:solidFill>
                      <a:srgbClr val="6A1A8A"/>
                    </a:solidFill>
                  </a:tcPr>
                </a:tc>
              </a:tr>
              <a:tr h="346165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Build 失敗：無法偵測語言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根目錄無 requirements.txt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根目錄加 requirements.txt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46165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Build 失敗：無 start cmd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main.py 不在根目錄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根目錄加 main.py 引入 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6165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向量搜尋未啟用（fulltext）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chromadb 未列入 requirements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補加 chromadb==1.5.9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46165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ZIP 找不到特定公文編號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TOP_K=5 + 100份文件相似度接近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ZIP TOP_K: 5 → 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6165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429 Too Many Requests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連續請求觸發 NCHC 流量限制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Retry + backoff（10/20/40s）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4617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中文答題準確率偏低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英文 embedding 模型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換多語言 MiniLM-L12-v2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時間軸與可延伸方向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ACCDD"/>
                </a:solidFill>
              </a:rPr>
              <a:t>總製作時間約 6 小時（含部署測試）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417320"/>
            <a:ext cx="12188952" cy="50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E4A"/>
                </a:solidFill>
              </a:rPr>
              <a:t>⏱ 製作時間軸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11680"/>
            <a:ext cx="201168" cy="41148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048256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</a:rPr>
              <a:t>資料確認＋環境建置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048256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008787"/>
                </a:solidFill>
              </a:rPr>
              <a:t>~1 hr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633472"/>
            <a:ext cx="201168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67004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</a:rPr>
              <a:t>PDF OCR 前處理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2670048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2E7D32"/>
                </a:solidFill>
              </a:rPr>
              <a:t>~10 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255264"/>
            <a:ext cx="201168" cy="411480"/>
          </a:xfrm>
          <a:prstGeom prst="rect">
            <a:avLst/>
          </a:prstGeom>
          <a:solidFill>
            <a:srgbClr val="6A1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2918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</a:rPr>
              <a:t>XLS 結構解析（含debug）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329184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6A1A8A"/>
                </a:solidFill>
              </a:rPr>
              <a:t>~1 hr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877056"/>
            <a:ext cx="201168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91363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</a:rPr>
              <a:t>ZIP 批量萃取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3913632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2E7D32"/>
                </a:solidFill>
              </a:rPr>
              <a:t>~5 min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498848"/>
            <a:ext cx="201168" cy="41148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535424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</a:rPr>
              <a:t>WAV 轉錄（Whisper）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4535424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008787"/>
                </a:solidFill>
              </a:rPr>
              <a:t>~30 min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120640"/>
            <a:ext cx="201168" cy="41148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57216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</a:rPr>
              <a:t>20 題 QA 撰寫＋自驗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5157216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1A2E4A"/>
                </a:solidFill>
              </a:rPr>
              <a:t>~1 hr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742432"/>
            <a:ext cx="201168" cy="41148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77900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</a:rPr>
              <a:t>向量搜尋實作（ChromaDB）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3360" y="5779008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008787"/>
                </a:solidFill>
              </a:rPr>
              <a:t>~1 hr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6364224"/>
            <a:ext cx="201168" cy="411480"/>
          </a:xfrm>
          <a:prstGeom prst="rect">
            <a:avLst/>
          </a:prstGeom>
          <a:solidFill>
            <a:srgbClr val="E8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640080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</a:rPr>
              <a:t>Railway 部署＋除錯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23360" y="640080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E86A1A"/>
                </a:solidFill>
              </a:rPr>
              <a:t>~1 hr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6986016"/>
            <a:ext cx="5029200" cy="254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7077456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>
                <a:solidFill>
                  <a:srgbClr val="1A2E4A"/>
                </a:solidFill>
              </a:rPr>
              <a:t>總計：約 6 小時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16002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E4A"/>
                </a:solidFill>
              </a:rPr>
              <a:t>🚀 可延伸方向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2011680"/>
            <a:ext cx="5394960" cy="777240"/>
          </a:xfrm>
          <a:prstGeom prst="rect">
            <a:avLst/>
          </a:prstGeom>
          <a:solidFill>
            <a:srgbClr val="E8F8ED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2048256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7AE60"/>
                </a:solidFill>
              </a:rPr>
              <a:t>✓ RAG 向量搜尋（已完成）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23774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ChromaDB，603 chunks，TOP_K per source，只注入相關段落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2880360"/>
            <a:ext cx="5394960" cy="777240"/>
          </a:xfrm>
          <a:prstGeom prst="rect">
            <a:avLst/>
          </a:prstGeom>
          <a:solidFill>
            <a:srgbClr val="E8F8ED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60" y="2916936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7AE60"/>
                </a:solidFill>
              </a:rPr>
              <a:t>✓ Railway API 部署（已完成）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32461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/ask + /health + /sources，向量搜尋啟用，fulltext fallback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3749040"/>
            <a:ext cx="5394960" cy="777240"/>
          </a:xfrm>
          <a:prstGeom prst="rect">
            <a:avLst/>
          </a:prstGeom>
          <a:solidFill>
            <a:srgbClr val="E8F8ED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37960" y="3785616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7AE60"/>
                </a:solidFill>
              </a:rPr>
              <a:t>✓ 多語言 Embedding（已完成）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41148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換成 multilingual-MiniLM-L12-v2，bundled 進 repo（Git LFS），Railway 可離線載入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4617720"/>
            <a:ext cx="5394960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08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37960" y="4654296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8787"/>
                </a:solidFill>
              </a:rPr>
              <a:t>Function Calling / Tool Use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37960" y="49834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給 Gemma 工具（search_pdf/wav/xls/zip），自行決定呼叫哪個來源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0" y="5486400"/>
            <a:ext cx="5394960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08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37960" y="5522976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8787"/>
                </a:solidFill>
              </a:rPr>
              <a:t>多文件交叉查詢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37960" y="5852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同時引用 PDF 卷宗＋XLS 人口資料，回答跨來源的複合問題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6419088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DD"/>
                </a:solidFill>
              </a:rPr>
              <a:t>現場歡迎提問任何技術細節　｜　repo: hopojung/Cameo　branch: claude/cameo-interview-prep-0cOgW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驗證歷程：從 8 題到 17 題（共 20 題）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ACCDD"/>
                </a:solidFill>
              </a:rPr>
              <a:t>三輪迭代、逐步排雷，最終達成 85% 通過率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417320"/>
            <a:ext cx="12188952" cy="50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E4A"/>
                </a:solidFill>
              </a:rPr>
              <a:t>📈 三輪迭代過程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965960"/>
          <a:ext cx="11430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輪次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通過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關鍵問題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採取的修正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第 1 輪（初始）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8 / 20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ZIP TOP_K 過小；429 限流；keyword 空格不匹配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第 2 輪（調參後）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13 / 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XLS 縣市資料錯位；WAV QA 來賓名稱有誤；英文 embedding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ZIP TOP_K 5→15；retry backoff；keyword normalize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第 3 輪（全修後）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17 / 20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ZIP 公文 020/050/080 fulltext 截斷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XLS 前處理 bug 修復；QA 更新；multilingual model bundled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611880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6A1A"/>
                </a:solidFill>
              </a:rPr>
              <a:t>❌ 剩餘 3 題未通過原因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3977639"/>
          <a:ext cx="685800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37719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題目</a:t>
                      </a:r>
                    </a:p>
                  </a:txBody>
                  <a:tcPr>
                    <a:solidFill>
                      <a:srgbClr val="E86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根本原因</a:t>
                      </a:r>
                    </a:p>
                  </a:txBody>
                  <a:tcPr>
                    <a:solidFill>
                      <a:srgbClr val="E86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修復路徑</a:t>
                      </a:r>
                    </a:p>
                  </a:txBody>
                  <a:tcPr>
                    <a:solidFill>
                      <a:srgbClr val="E86A1A"/>
                    </a:solidFill>
                  </a:tcPr>
                </a:tc>
              </a:tr>
              <a:tr h="37719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zip_03（公文020）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fulltext 12,000字元限制，100份公文第6份即截斷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重建向量索引 → vector search 直接定位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7719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zip_04（公文050）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同上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同上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zip_05（公文080）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同上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同上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98079" y="3611880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7AE60"/>
                </a:solidFill>
              </a:rPr>
              <a:t>🎯 最終成績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3977639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AE60"/>
                </a:solidFill>
              </a:rPr>
              <a:t>✓ PDF：5 /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4361687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AE60"/>
                </a:solidFill>
              </a:rPr>
              <a:t>✓ XLS：5 / 5（縣市錯位修正後）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4745735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AE60"/>
                </a:solidFill>
              </a:rPr>
              <a:t>✓ WAV：5 / 5（QA 名稱修正後）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5129783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AE60"/>
                </a:solidFill>
              </a:rPr>
              <a:t>✓ ZIP：2 / 5（001、005 通過）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5513831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6A1A"/>
                </a:solidFill>
              </a:rPr>
              <a:t>✗ ZIP：0 / 3（020、050、080 待索引重建）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79" y="5897880"/>
            <a:ext cx="4297680" cy="6858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79" y="5943600"/>
            <a:ext cx="4297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17 / 20 = 85%  通過率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